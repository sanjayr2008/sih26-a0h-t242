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81663"/>
            <a:ext cx="8534400" cy="169478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70443" y="-1014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675" y="1809260"/>
            <a:ext cx="5924550" cy="4473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Multiple intermediaries reduce farmers earnings and increase consumer prices.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Agriculture,Foodtech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ID-SIH26-A0H-T242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The Apex Six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268070"/>
            <a:ext cx="10972800" cy="1346045"/>
          </a:xfrm>
        </p:spPr>
        <p:txBody>
          <a:bodyPr/>
          <a:lstStyle/>
          <a:p>
            <a:pPr eaLnBrk="1" hangingPunct="1"/>
            <a:r>
              <a:rPr lang="en-US" sz="3000" b="1" dirty="0" err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AgriConnect</a:t>
            </a: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Direct Farm-to-Market Platform</a:t>
            </a:r>
            <a:br>
              <a:rPr lang="en-US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30407"/>
            <a:ext cx="12191999" cy="3252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A digital marketplace + FPO (Farmer Producer </a:t>
            </a:r>
            <a:r>
              <a:rPr lang="en-US" sz="20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) aggregation network that connects farmers directly to bulk buyers, retailers and consumers.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Real-time price dashboard pulled from </a:t>
            </a:r>
            <a:r>
              <a:rPr lang="en-US" sz="20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eNAM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 / mandi data so farmers know a fair price before they sell.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AI demand-supply matching routes produce to the nearest verified buyer, cutting distress sales at harvest.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Blockchain-logged transactions give every stakeholder a transparent, tamper-proof price and payment trail.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314216"/>
            <a:ext cx="1251857" cy="8829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Apex Six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DBB478-D99C-449E-3DB5-2E2B25E70504}"/>
              </a:ext>
            </a:extLst>
          </p:cNvPr>
          <p:cNvSpPr txBox="1"/>
          <p:nvPr/>
        </p:nvSpPr>
        <p:spPr>
          <a:xfrm>
            <a:off x="182998" y="5183251"/>
            <a:ext cx="11399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unique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i="1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Combines </a:t>
            </a:r>
            <a:r>
              <a:rPr lang="en-US" i="1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eNAM</a:t>
            </a:r>
            <a:r>
              <a:rPr lang="en-US" i="1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 price data + FPO-based farmer aggregation + AI buyer matching + blockchain transparency in one workflow — existing apps solve only one piece of this chain.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1880" y="2308412"/>
            <a:ext cx="93853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Mobile / Web App:  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React Native (farmer &amp; buyer apps), React.js dashboard, vernacular voice/IVR support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Backend &amp; Data:  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Node.js + Django microservices, PostgreSQL, REST APIs integrated with </a:t>
            </a:r>
            <a:r>
              <a:rPr lang="en-US" sz="20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eNAM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 mandi price feeds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Intelligence Layer:  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Python ML for demand-supply matching &amp; price forecasting (time-series regression)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Trust Layer:  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Hyperledger blockchain ledger for transparent transaction &amp; payment records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Logistics:</a:t>
            </a:r>
            <a:r>
              <a:rPr lang="en-US" sz="2000" b="1" dirty="0">
                <a:solidFill>
                  <a:srgbClr val="2C5F2D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GPS-based route matching, API tie-ups with rural transport &amp; cold-chain partners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85432" y="144778"/>
            <a:ext cx="1251857" cy="80382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The Apex Six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A090F5-F4FD-44E1-DE4B-2CBF3FCDFDD2}"/>
              </a:ext>
            </a:extLst>
          </p:cNvPr>
          <p:cNvSpPr txBox="1"/>
          <p:nvPr/>
        </p:nvSpPr>
        <p:spPr>
          <a:xfrm>
            <a:off x="1146533" y="1525559"/>
            <a:ext cx="48555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>
              <a:solidFill>
                <a:schemeClr val="tx2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6162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The Apex Six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A75FDF-899A-BA18-1DF4-0E737D4DB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288770"/>
              </p:ext>
            </p:extLst>
          </p:nvPr>
        </p:nvGraphicFramePr>
        <p:xfrm>
          <a:off x="1681704" y="909010"/>
          <a:ext cx="8298543" cy="484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181">
                  <a:extLst>
                    <a:ext uri="{9D8B030D-6E8A-4147-A177-3AD203B41FA5}">
                      <a16:colId xmlns:a16="http://schemas.microsoft.com/office/drawing/2014/main" val="3278423394"/>
                    </a:ext>
                  </a:extLst>
                </a:gridCol>
                <a:gridCol w="2766181">
                  <a:extLst>
                    <a:ext uri="{9D8B030D-6E8A-4147-A177-3AD203B41FA5}">
                      <a16:colId xmlns:a16="http://schemas.microsoft.com/office/drawing/2014/main" val="3882096034"/>
                    </a:ext>
                  </a:extLst>
                </a:gridCol>
                <a:gridCol w="2766181">
                  <a:extLst>
                    <a:ext uri="{9D8B030D-6E8A-4147-A177-3AD203B41FA5}">
                      <a16:colId xmlns:a16="http://schemas.microsoft.com/office/drawing/2014/main" val="774612057"/>
                    </a:ext>
                  </a:extLst>
                </a:gridCol>
              </a:tblGrid>
              <a:tr h="12119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             Feasibility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     Risks &amp; Challenges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    Mitigation Strategy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041804"/>
                  </a:ext>
                </a:extLst>
              </a:tr>
              <a:tr h="121193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22,000+ mandis already connected via e-NAM price infrastructure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digital literacy among smallholder farmers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onboarding &amp; listings through trusted local FPOs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077572"/>
                  </a:ext>
                </a:extLst>
              </a:tr>
              <a:tr h="121193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10,000+ registered FPOs give a ready aggregation network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Cold-chain gaps for perishable produce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Vernacular voice / IVR interface for low-literacy users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73642"/>
                  </a:ext>
                </a:extLst>
              </a:tr>
              <a:tr h="121193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rural smartphone &amp; UPI penetration supports adoption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trust in a new platform over familiar traders</a:t>
                      </a:r>
                      <a:endParaRPr lang="en-US" sz="18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with one commodity in one district before scaling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608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1729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The Apex Six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1A0DBB-25D0-5D4D-8456-CBE323E67D77}"/>
              </a:ext>
            </a:extLst>
          </p:cNvPr>
          <p:cNvSpPr txBox="1"/>
          <p:nvPr/>
        </p:nvSpPr>
        <p:spPr>
          <a:xfrm>
            <a:off x="1105231" y="1335597"/>
            <a:ext cx="458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dirty="0">
              <a:solidFill>
                <a:schemeClr val="tx2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3AD9C-FA20-9CDD-2CE4-0E08465FD13A}"/>
              </a:ext>
            </a:extLst>
          </p:cNvPr>
          <p:cNvSpPr txBox="1"/>
          <p:nvPr/>
        </p:nvSpPr>
        <p:spPr>
          <a:xfrm>
            <a:off x="1256305" y="1937946"/>
            <a:ext cx="40154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Smallholder &amp; marginal farmers (~86% of India's farmers)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Farmer Producer Organisations (FPOs) and cooperatives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Urban and semi-urban consumers seeking fair food prices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Retailers and bulk buyers needing reliable, traceable supply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F9C32-809A-5C83-D685-387385AAF585}"/>
              </a:ext>
            </a:extLst>
          </p:cNvPr>
          <p:cNvSpPr txBox="1"/>
          <p:nvPr/>
        </p:nvSpPr>
        <p:spPr>
          <a:xfrm>
            <a:off x="6838122" y="1293787"/>
            <a:ext cx="246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dirty="0">
              <a:solidFill>
                <a:schemeClr val="tx2"/>
              </a:solidFill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F2147-D49D-C879-B1B4-C20E7CCE3010}"/>
              </a:ext>
            </a:extLst>
          </p:cNvPr>
          <p:cNvSpPr txBox="1"/>
          <p:nvPr/>
        </p:nvSpPr>
        <p:spPr>
          <a:xfrm>
            <a:off x="6989197" y="1786165"/>
            <a:ext cx="42380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Economic:  </a:t>
            </a:r>
            <a:r>
              <a:rPr lang="en-US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Farmers retain a far larger share of the consumer rupee; consumers pay less since fewer margins stack up along the chain</a:t>
            </a:r>
            <a:endParaRPr lang="en-US" dirty="0"/>
          </a:p>
          <a:p>
            <a:r>
              <a:rPr lang="en-US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Social:  </a:t>
            </a:r>
            <a:r>
              <a:rPr lang="en-US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Fewer distress / forced sales at harvest time; steadier income for smallholder households</a:t>
            </a:r>
            <a:endParaRPr lang="en-US" dirty="0"/>
          </a:p>
          <a:p>
            <a:r>
              <a:rPr lang="en-US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Environmental:  </a:t>
            </a:r>
            <a:r>
              <a:rPr lang="en-US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Faster, direct logistics reduce spoilage of perishable produce along the supply chain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The Apex Six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9C002DA7-E344-24E7-611C-EFEDD3D6E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73" y="1095375"/>
            <a:ext cx="936315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6" algn="just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u="sng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/ LINKS OF REFERENCE    RESEARCH WORK</a:t>
            </a:r>
            <a:endParaRPr lang="en-US" sz="2000" dirty="0">
              <a:solidFill>
                <a:schemeClr val="tx2"/>
              </a:solidFill>
            </a:endParaRPr>
          </a:p>
          <a:p>
            <a:pPr lvl="6" algn="just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7DE07-F1F4-5360-1831-DE1C49A69B57}"/>
              </a:ext>
            </a:extLst>
          </p:cNvPr>
          <p:cNvSpPr txBox="1"/>
          <p:nvPr/>
        </p:nvSpPr>
        <p:spPr>
          <a:xfrm>
            <a:off x="500932" y="1706027"/>
            <a:ext cx="109727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Chand, R. (2012), cited in </a:t>
            </a:r>
            <a:r>
              <a:rPr lang="en-US" sz="14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Birthal</a:t>
            </a: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, P.S. et al., "Linking Farms to Markets" in Agricultural Value Chains in India, Springer, 2020 — notes an average of 4–6 market transactions before produce reaches the final consumer. link.springer.com/chapter/10.1007/978-3-030-14409-8_8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 startAt="2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Bergquist, L.F., "Pass-through, Competition, and Entry in Agricultural Markets," Yale University Job Market Paper — finds intermediaries capture ~79% of market surplus vs. ~21% for consumers under imperfect competition. economics.yale.edu/sites/default/files/bergquist_jmp.pdf</a:t>
            </a:r>
          </a:p>
          <a:p>
            <a:pPr marL="342900" indent="-342900">
              <a:buAutoNum type="arabicPeriod" startAt="2"/>
            </a:pPr>
            <a:endParaRPr lang="en-US" sz="1400" dirty="0">
              <a:solidFill>
                <a:srgbClr val="2B2B26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Tx/>
              <a:buAutoNum type="arabicPeriod" startAt="2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Gandhi, V.P. &amp; Namboodiri, N.V., "Marketing of Fruits and Vegetables in India," IIM Ahmedabad Working Paper — farmer share of consumer rupee ranged 25–95% depending on the number of middlemen in the channel. ideas.repec.org/p/</a:t>
            </a:r>
            <a:r>
              <a:rPr lang="en-US" sz="14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iim</a:t>
            </a: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iimawp</a:t>
            </a: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/wp01832.html</a:t>
            </a:r>
          </a:p>
          <a:p>
            <a:pPr marL="342900" indent="-342900">
              <a:buFontTx/>
              <a:buAutoNum type="arabicPeriod" startAt="2"/>
            </a:pPr>
            <a:endParaRPr lang="en-US" sz="1400" dirty="0"/>
          </a:p>
          <a:p>
            <a:pPr marL="342900" indent="-342900">
              <a:buFontTx/>
              <a:buAutoNum type="arabicPeriod" startAt="2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Chand, K., Kumar, S., Suresh, A. &amp; Dastagiri, M.B. (2020), "Marketing efficiency of vegetables in developing economies," Indian Journal of Agricultural Sciences, 90(8) — farmer's share in consumer's rupee ~25% (carrot), 41% (tomato).</a:t>
            </a:r>
          </a:p>
          <a:p>
            <a:pPr marL="342900" indent="-342900">
              <a:buFontTx/>
              <a:buAutoNum type="arabicPeriod" startAt="2"/>
            </a:pPr>
            <a:endParaRPr lang="en-US" sz="1400" dirty="0"/>
          </a:p>
          <a:p>
            <a:pPr marL="342900" indent="-342900">
              <a:buFontTx/>
              <a:buAutoNum type="arabicPeriod" startAt="2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J-PAL &amp; CEGA (2024), "Increasing Small-Scale Farmers' Access to Agricultural Markets," J-PAL Policy Insights. povertyactionlab.org/policy-insight/increasing-small-scale-farmers-access-agricultural-markets</a:t>
            </a:r>
          </a:p>
          <a:p>
            <a:pPr marL="342900" indent="-342900">
              <a:buFontTx/>
              <a:buAutoNum type="arabicPeriod" startAt="2"/>
            </a:pPr>
            <a:endParaRPr lang="en-US" sz="1400" dirty="0"/>
          </a:p>
          <a:p>
            <a:pPr marL="342900" indent="-342900">
              <a:buFontTx/>
              <a:buAutoNum type="arabicPeriod" startAt="2"/>
            </a:pPr>
            <a:r>
              <a:rPr lang="en-US" sz="1400" dirty="0">
                <a:solidFill>
                  <a:srgbClr val="2B2B26"/>
                </a:solidFill>
                <a:ea typeface="Calibri" pitchFamily="34" charset="-122"/>
                <a:cs typeface="Calibri" pitchFamily="34" charset="-120"/>
              </a:rPr>
              <a:t>"Small-holding farmers and exploitative role of intermediaries," Emerald Publishing Insights — multilayered intermediary chains depress farmer prices while raising consumer prices.</a:t>
            </a:r>
            <a:endParaRPr lang="en-US" sz="1400" dirty="0"/>
          </a:p>
          <a:p>
            <a:pPr marL="342900" indent="-342900">
              <a:buAutoNum type="arabicPeriod" startAt="2"/>
            </a:pPr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7570</TotalTime>
  <Words>772</Words>
  <Application>Microsoft Office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</vt:lpstr>
      <vt:lpstr>Garamond</vt:lpstr>
      <vt:lpstr>Times New Roman</vt:lpstr>
      <vt:lpstr>TradeGothic</vt:lpstr>
      <vt:lpstr>Wingdings</vt:lpstr>
      <vt:lpstr>Office Theme</vt:lpstr>
      <vt:lpstr>SMART INDIA HACKATHON 2026</vt:lpstr>
      <vt:lpstr>AgriConnect — Direct Farm-to-Market Platform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156</cp:revision>
  <dcterms:created xsi:type="dcterms:W3CDTF">2013-12-12T18:46:50Z</dcterms:created>
  <dcterms:modified xsi:type="dcterms:W3CDTF">2026-08-30T05:51:09Z</dcterms:modified>
  <cp:category/>
</cp:coreProperties>
</file>